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57" r:id="rId5"/>
    <p:sldId id="258" r:id="rId6"/>
    <p:sldId id="261" r:id="rId7"/>
    <p:sldId id="260" r:id="rId8"/>
    <p:sldId id="262" r:id="rId9"/>
    <p:sldId id="263" r:id="rId10"/>
    <p:sldId id="264" r:id="rId11"/>
    <p:sldId id="265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53" userDrawn="1">
          <p15:clr>
            <a:srgbClr val="A4A3A4"/>
          </p15:clr>
        </p15:guide>
        <p15:guide id="2" pos="21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53"/>
        <p:guide pos="214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5AAA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rgbClr val="005AAA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2855"/>
                </a:solidFill>
                <a:latin typeface="Microsoft Sans Serif" panose="020B0604020202020204"/>
                <a:cs typeface="Microsoft Sans Serif" panose="020B0604020202020204"/>
              </a:defRPr>
            </a:lvl1pPr>
          </a:lstStyle>
          <a:p>
            <a:pPr marL="97790">
              <a:lnSpc>
                <a:spcPts val="142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5AAA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1">
                <a:solidFill>
                  <a:srgbClr val="005AAA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2855"/>
                </a:solidFill>
                <a:latin typeface="Microsoft Sans Serif" panose="020B0604020202020204"/>
                <a:cs typeface="Microsoft Sans Serif" panose="020B0604020202020204"/>
              </a:defRPr>
            </a:lvl1pPr>
          </a:lstStyle>
          <a:p>
            <a:pPr marL="97790">
              <a:lnSpc>
                <a:spcPts val="142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5AAA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2855"/>
                </a:solidFill>
                <a:latin typeface="Microsoft Sans Serif" panose="020B0604020202020204"/>
                <a:cs typeface="Microsoft Sans Serif" panose="020B0604020202020204"/>
              </a:defRPr>
            </a:lvl1pPr>
          </a:lstStyle>
          <a:p>
            <a:pPr marL="97790">
              <a:lnSpc>
                <a:spcPts val="142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5AAA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2855"/>
                </a:solidFill>
                <a:latin typeface="Microsoft Sans Serif" panose="020B0604020202020204"/>
                <a:cs typeface="Microsoft Sans Serif" panose="020B0604020202020204"/>
              </a:defRPr>
            </a:lvl1pPr>
          </a:lstStyle>
          <a:p>
            <a:pPr marL="97790">
              <a:lnSpc>
                <a:spcPts val="142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0862" y="304419"/>
            <a:ext cx="2827274" cy="10953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2855"/>
                </a:solidFill>
                <a:latin typeface="Microsoft Sans Serif" panose="020B0604020202020204"/>
                <a:cs typeface="Microsoft Sans Serif" panose="020B0604020202020204"/>
              </a:defRPr>
            </a:lvl1pPr>
          </a:lstStyle>
          <a:p>
            <a:pPr marL="97790">
              <a:lnSpc>
                <a:spcPts val="142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626852" y="407974"/>
            <a:ext cx="1014260" cy="31490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8378" y="317754"/>
            <a:ext cx="5737860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5AAA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7710" y="1079119"/>
            <a:ext cx="11014075" cy="2714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rgbClr val="005AAA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59718" y="6512569"/>
            <a:ext cx="23431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02855"/>
                </a:solidFill>
                <a:latin typeface="Microsoft Sans Serif" panose="020B0604020202020204"/>
                <a:cs typeface="Microsoft Sans Serif" panose="020B0604020202020204"/>
              </a:defRPr>
            </a:lvl1pPr>
          </a:lstStyle>
          <a:p>
            <a:pPr marL="97790">
              <a:lnSpc>
                <a:spcPts val="142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3987" y="1516506"/>
            <a:ext cx="8046720" cy="750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Индивидуальный</a:t>
            </a:r>
            <a:r>
              <a:rPr sz="2400" b="1" spc="-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инновационный</a:t>
            </a:r>
            <a:r>
              <a:rPr sz="2400" b="1" spc="-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проект</a:t>
            </a:r>
            <a:r>
              <a:rPr sz="2400" b="1" spc="-6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по</a:t>
            </a:r>
            <a:r>
              <a:rPr sz="2400" b="1" spc="-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дисциплине</a:t>
            </a:r>
            <a:endParaRPr sz="2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00000"/>
              </a:lnSpc>
            </a:pPr>
            <a:r>
              <a:rPr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«Основы</a:t>
            </a:r>
            <a:r>
              <a:rPr sz="2400" b="1" spc="-1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проектной</a:t>
            </a:r>
            <a:r>
              <a:rPr sz="2400" b="1" spc="-9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деятельности»</a:t>
            </a:r>
            <a:endParaRPr sz="2400" b="1"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1780" y="2654935"/>
            <a:ext cx="8658860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lang="en-US" altLang="ru-RU" sz="3200">
                <a:latin typeface="Arial" panose="020B0604020202020204"/>
                <a:cs typeface="Arial" panose="020B0604020202020204"/>
              </a:rPr>
              <a:t>«</a:t>
            </a:r>
            <a:r>
              <a:rPr lang="en-US" altLang="en-US" sz="3200">
                <a:latin typeface="Arial" panose="020B0604020202020204"/>
                <a:cs typeface="Arial" panose="020B0604020202020204"/>
              </a:rPr>
              <a:t>Разработка прототипа автономного робота-пылесоса для очистки водоемов от пластиковых отходов</a:t>
            </a:r>
            <a:r>
              <a:rPr lang="ru-RU" altLang="en-US" sz="3200">
                <a:latin typeface="Arial" panose="020B0604020202020204"/>
                <a:cs typeface="Arial" panose="020B0604020202020204"/>
              </a:rPr>
              <a:t> </a:t>
            </a:r>
            <a:r>
              <a:rPr lang="en-US" altLang="ru-RU" sz="3200">
                <a:latin typeface="Arial" panose="020B0604020202020204"/>
                <a:cs typeface="Arial" panose="020B0604020202020204"/>
                <a:sym typeface="+mn-ea"/>
              </a:rPr>
              <a:t>AquaClean</a:t>
            </a:r>
            <a:r>
              <a:rPr lang="en-US" altLang="en-US" sz="3200">
                <a:latin typeface="Arial" panose="020B0604020202020204"/>
                <a:cs typeface="Arial" panose="020B0604020202020204"/>
              </a:rPr>
              <a:t>»</a:t>
            </a:r>
            <a:endParaRPr lang="en-US" altLang="en-US" sz="3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50885" y="5943600"/>
            <a:ext cx="3733165" cy="640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000" u="none" strike="noStrike" kern="0" cap="none" spc="0" normalizeH="0" dirty="0">
                <a:solidFill>
                  <a:srgbClr val="232834"/>
                </a:solidFill>
                <a:latin typeface="Times New Roman" panose="02020603050405020304" charset="0"/>
                <a:cs typeface="Microsoft Sans Serif" panose="020B0604020202020204"/>
              </a:rPr>
              <a:t>Выполнила:</a:t>
            </a:r>
            <a:r>
              <a:rPr sz="2000" u="none" strike="noStrike" kern="0" cap="none" spc="0" normalizeH="0" dirty="0">
                <a:solidFill>
                  <a:srgbClr val="232834"/>
                </a:solidFill>
                <a:latin typeface="Times New Roman" panose="02020603050405020304" charset="0"/>
                <a:cs typeface="Microsoft Sans Serif" panose="020B0604020202020204"/>
              </a:rPr>
              <a:t> студентка гр.</a:t>
            </a:r>
            <a:r>
              <a:rPr lang="ru-RU" altLang="en-US" sz="2000" u="none" strike="noStrike" kern="0" cap="none" spc="0" normalizeH="0" dirty="0">
                <a:solidFill>
                  <a:srgbClr val="232834"/>
                </a:solidFill>
                <a:latin typeface="Times New Roman" panose="02020603050405020304" charset="0"/>
                <a:cs typeface="Microsoft Sans Serif" panose="020B0604020202020204"/>
              </a:rPr>
              <a:t>М460</a:t>
            </a:r>
            <a:r>
              <a:rPr sz="2000" u="none" strike="noStrike" kern="0" cap="none" spc="0" normalizeH="0" dirty="0">
                <a:solidFill>
                  <a:srgbClr val="232834"/>
                </a:solidFill>
                <a:latin typeface="Times New Roman" panose="02020603050405020304" charset="0"/>
                <a:cs typeface="Microsoft Sans Serif" panose="020B0604020202020204"/>
              </a:rPr>
              <a:t>з</a:t>
            </a:r>
            <a:endParaRPr sz="2000" u="none" strike="noStrike" kern="0" cap="none" spc="0" normalizeH="0" dirty="0">
              <a:solidFill>
                <a:srgbClr val="232834"/>
              </a:solidFill>
              <a:latin typeface="Times New Roman" panose="02020603050405020304" charset="0"/>
              <a:cs typeface="Microsoft Sans Serif" panose="020B0604020202020204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ru-RU" altLang="en-US" sz="2000" u="none" strike="noStrike" kern="0" cap="none" spc="0" normalizeH="0" dirty="0">
                <a:solidFill>
                  <a:srgbClr val="232834"/>
                </a:solidFill>
                <a:latin typeface="Times New Roman" panose="02020603050405020304" charset="0"/>
                <a:cs typeface="Microsoft Sans Serif" panose="020B0604020202020204"/>
              </a:rPr>
              <a:t>Левтонова</a:t>
            </a:r>
            <a:r>
              <a:rPr sz="2000" u="none" strike="noStrike" kern="0" cap="none" spc="0" normalizeH="0" dirty="0">
                <a:solidFill>
                  <a:srgbClr val="232834"/>
                </a:solidFill>
                <a:latin typeface="Times New Roman" panose="02020603050405020304" charset="0"/>
                <a:cs typeface="Microsoft Sans Serif" panose="020B0604020202020204"/>
              </a:rPr>
              <a:t> С.А.</a:t>
            </a:r>
            <a:endParaRPr sz="2000" u="none" strike="noStrike" kern="0" cap="none" spc="0" normalizeH="0">
              <a:latin typeface="Times New Roman" panose="02020603050405020304" charset="0"/>
              <a:cs typeface="Microsoft Sans Serif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50862" y="960500"/>
            <a:ext cx="11090211" cy="1600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8378" y="317754"/>
            <a:ext cx="573786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Цели</a:t>
            </a:r>
            <a:r>
              <a:rPr spc="-7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spc="-8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задачи</a:t>
            </a:r>
            <a:r>
              <a:rPr spc="-8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проекта</a:t>
            </a:r>
            <a:endParaRPr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790">
              <a:lnSpc>
                <a:spcPts val="142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472440" y="1110615"/>
            <a:ext cx="11359515" cy="544004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04140" marR="95885" algn="just">
              <a:lnSpc>
                <a:spcPct val="100000"/>
              </a:lnSpc>
              <a:spcBef>
                <a:spcPts val="100"/>
              </a:spcBef>
            </a:pPr>
            <a:r>
              <a:rPr lang="en-US" altLang="en-US" sz="2000" b="1" i="1" u="sng">
                <a:latin typeface="Times New Roman" panose="02020603050405020304" charset="0"/>
                <a:cs typeface="Times New Roman" panose="02020603050405020304" charset="0"/>
              </a:rPr>
              <a:t>Цель проекта:</a:t>
            </a:r>
            <a:endParaRPr lang="en-US" altLang="en-US" sz="2000" b="1" i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104140" marR="95885" indent="457200" algn="just">
              <a:lnSpc>
                <a:spcPct val="100000"/>
              </a:lnSpc>
              <a:spcBef>
                <a:spcPts val="100"/>
              </a:spcBef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Разработать и испытать рабочий прототип робота «</a:t>
            </a:r>
            <a:r>
              <a:rPr lang="en-US" altLang="ru-RU" sz="2000">
                <a:latin typeface="Times New Roman" panose="02020603050405020304" charset="0"/>
                <a:cs typeface="Times New Roman" panose="02020603050405020304" charset="0"/>
              </a:rPr>
              <a:t>AquaClean»,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обеспечивающий эффективность сбора крупного пластикового мусора не менее 90% и автономную работу не менее 4 часов, для улучшения экологического состояния городских водоемов.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104140" marR="95885" indent="457200" algn="just">
              <a:lnSpc>
                <a:spcPct val="100000"/>
              </a:lnSpc>
              <a:spcBef>
                <a:spcPts val="100"/>
              </a:spcBef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104140" marR="95885" algn="just">
              <a:lnSpc>
                <a:spcPct val="100000"/>
              </a:lnSpc>
              <a:spcBef>
                <a:spcPts val="100"/>
              </a:spcBef>
            </a:pPr>
            <a:r>
              <a:rPr lang="en-US" altLang="en-US" sz="2000" b="1" i="1" u="sng">
                <a:latin typeface="Times New Roman" panose="02020603050405020304" charset="0"/>
                <a:cs typeface="Times New Roman" panose="02020603050405020304" charset="0"/>
              </a:rPr>
              <a:t>Задачи проекта:</a:t>
            </a:r>
            <a:endParaRPr lang="en-US" altLang="en-US" sz="2000" b="1" i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447040" marR="95885" indent="-342900" algn="just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Аналитическая: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Провести анализ существующих решений (например, </a:t>
            </a:r>
            <a:r>
              <a:rPr lang="en-US" altLang="ru-RU" sz="2000">
                <a:latin typeface="Times New Roman" panose="02020603050405020304" charset="0"/>
                <a:cs typeface="Times New Roman" panose="02020603050405020304" charset="0"/>
              </a:rPr>
              <a:t>WasteShark),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гидрологических требований и типов мусора. Сформулировать техническое задание (ТЗ).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47040" marR="95885" indent="-342900" algn="just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Конструкторско-технологическая: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Разработать конструкцию корпуса (тип катамаран для устойчивости), подобрать водонепроницаемые двигатели и интегрировать конвейерный/сетчатый механизм сбора.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47040" marR="95885" indent="-342900" algn="just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Программная: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Разработать алгоритм компьютерного зрения (</a:t>
            </a:r>
            <a:r>
              <a:rPr lang="en-US" altLang="ru-RU" sz="2000">
                <a:latin typeface="Times New Roman" panose="02020603050405020304" charset="0"/>
                <a:cs typeface="Times New Roman" panose="02020603050405020304" charset="0"/>
              </a:rPr>
              <a:t>CV)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для детекции мусора и прототип веб-интерфейса для мониторинга маршрута и заполненности контейнера.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47040" marR="95885" indent="-342900" algn="just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Испытательная: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Собрать прототип, провести лабораторные тесты (герметичность, плавучесть) и полевые испытания в контролируемом водоеме в течение 2 месяцев.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47040" marR="95885" indent="-342900" algn="just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Экономическая: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Рассчитать предварительную смету проекта и потенциальную себестоимость продукта при мелкосерийном производстве.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50862" y="960500"/>
            <a:ext cx="11090211" cy="1600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09498" y="518414"/>
            <a:ext cx="573786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Идея</a:t>
            </a:r>
            <a:r>
              <a:rPr spc="-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spc="-10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актуальность</a:t>
            </a:r>
            <a:r>
              <a:rPr spc="-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проекта</a:t>
            </a:r>
            <a:endParaRPr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45061" y="6512569"/>
            <a:ext cx="110489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ru-RU" altLang="" sz="1200" spc="-50" dirty="0">
                <a:solidFill>
                  <a:srgbClr val="002855"/>
                </a:solidFill>
                <a:latin typeface="Microsoft Sans Serif" panose="020B0604020202020204"/>
                <a:cs typeface="Microsoft Sans Serif" panose="020B0604020202020204"/>
              </a:rPr>
              <a:t>3</a:t>
            </a:r>
            <a:endParaRPr lang="ru-RU" altLang="" sz="1200" spc="-50" dirty="0">
              <a:solidFill>
                <a:srgbClr val="002855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655" y="1173480"/>
            <a:ext cx="11334750" cy="521716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ts val="2880"/>
              </a:lnSpc>
              <a:spcBef>
                <a:spcPts val="100"/>
              </a:spcBef>
            </a:pPr>
            <a:r>
              <a:rPr sz="2400" b="1" i="1" u="sng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Идея:</a:t>
            </a:r>
            <a:endParaRPr sz="2400" b="1" u="sng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marL="12700" marR="5080" indent="457200">
              <a:lnSpc>
                <a:spcPts val="2640"/>
              </a:lnSpc>
              <a:spcBef>
                <a:spcPts val="85"/>
              </a:spcBef>
            </a:pPr>
            <a:r>
              <a:rPr lang="en-US" altLang="en-US" sz="2400" u="none" strike="noStrike" kern="150" cap="none" spc="0" normalizeH="0">
                <a:latin typeface="Times New Roman" panose="02020603050405020304" charset="0"/>
                <a:cs typeface="Times New Roman" panose="02020603050405020304" charset="0"/>
              </a:rPr>
              <a:t>Создать функциональный прототип автономного надводного робота (катамарана) со встроенными датчиками и системой компьютерного зрения для непрерывного сбора пластикового мусора с поверхности воды и интеграцией данных о загрязнении в единую экологическую панель управления.</a:t>
            </a:r>
            <a:endParaRPr lang="en-US" altLang="en-US" sz="2400" u="none" strike="noStrike" kern="150" cap="none" spc="0" normalizeH="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 indent="457200">
              <a:lnSpc>
                <a:spcPts val="2640"/>
              </a:lnSpc>
              <a:spcBef>
                <a:spcPts val="85"/>
              </a:spcBef>
            </a:pPr>
            <a:endParaRPr lang="en-US" altLang="en-US" sz="2400" u="none" strike="noStrike" kern="150" cap="none" spc="0" normalizeH="0">
              <a:latin typeface="Times New Roman" panose="02020603050405020304" charset="0"/>
              <a:cs typeface="Times New Roman" panose="02020603050405020304" charset="0"/>
            </a:endParaRPr>
          </a:p>
          <a:p>
            <a:pPr marL="90170">
              <a:lnSpc>
                <a:spcPct val="100000"/>
              </a:lnSpc>
            </a:pPr>
            <a:r>
              <a:rPr sz="2400" b="1" i="1" u="sng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Актуальность</a:t>
            </a:r>
            <a:r>
              <a:rPr sz="2400" b="1" i="1" u="sng" spc="-1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 i="1" u="sng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проекта:</a:t>
            </a:r>
            <a:endParaRPr sz="2400" b="1" u="sng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90170" indent="457200" algn="l">
              <a:lnSpc>
                <a:spcPct val="100000"/>
              </a:lnSpc>
              <a:spcBef>
                <a:spcPts val="120"/>
              </a:spcBef>
              <a:buNone/>
              <a:tabLst>
                <a:tab pos="433070" algn="l"/>
              </a:tabLst>
            </a:pPr>
            <a:r>
              <a:rPr lang="en-US" altLang="en-US" sz="2400" u="none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• Инновационность: Уникальный продукт, ограниченный по времени и ресурсам, предлагающий новое рыночное решение в сфере </a:t>
            </a:r>
            <a:r>
              <a:rPr lang="en-US" altLang="ru-RU" sz="2400" u="none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GreenTech </a:t>
            </a:r>
            <a:r>
              <a:rPr lang="en-US" altLang="en-US" sz="2400" u="none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и умных городов.</a:t>
            </a:r>
            <a:endParaRPr lang="en-US" altLang="en-US" sz="2400" u="none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90170" indent="457200" algn="l">
              <a:lnSpc>
                <a:spcPct val="100000"/>
              </a:lnSpc>
              <a:spcBef>
                <a:spcPts val="120"/>
              </a:spcBef>
              <a:buNone/>
              <a:tabLst>
                <a:tab pos="433070" algn="l"/>
              </a:tabLst>
            </a:pPr>
            <a:r>
              <a:rPr lang="en-US" altLang="en-US" sz="2400" u="none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• Рыночный тренд: Растет глобальный спрос на автоматизированные экологические решения и технологии для устойчивого развития (</a:t>
            </a:r>
            <a:r>
              <a:rPr lang="en-US" altLang="ru-RU" sz="2400" u="none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ESG).</a:t>
            </a:r>
            <a:endParaRPr lang="en-US" altLang="ru-RU" sz="2400" u="none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90170" indent="457200" algn="l">
              <a:lnSpc>
                <a:spcPct val="100000"/>
              </a:lnSpc>
              <a:spcBef>
                <a:spcPts val="120"/>
              </a:spcBef>
              <a:buNone/>
              <a:tabLst>
                <a:tab pos="433070" algn="l"/>
              </a:tabLst>
            </a:pPr>
            <a:r>
              <a:rPr lang="en-US" altLang="en-US" sz="2400" u="none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• Социальная значимость: Позволяет предотвратить попадание микропластика в пищевые цепи, защитить экосистемы и снизить затраты муниципальных служб на ручную уборку.</a:t>
            </a:r>
            <a:endParaRPr lang="en-US" altLang="en-US" sz="2400" u="none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50862" y="960500"/>
            <a:ext cx="11090211" cy="1600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8378" y="317754"/>
            <a:ext cx="573786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Проблемы,</a:t>
            </a:r>
            <a:r>
              <a:rPr spc="-1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решаемые</a:t>
            </a:r>
            <a:r>
              <a:rPr spc="-1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проектом</a:t>
            </a:r>
            <a:endParaRPr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790">
              <a:lnSpc>
                <a:spcPts val="142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513715" y="1144905"/>
            <a:ext cx="11195050" cy="500253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353695" marR="7620" indent="-341630" algn="just">
              <a:lnSpc>
                <a:spcPct val="110000"/>
              </a:lnSpc>
              <a:spcBef>
                <a:spcPts val="100"/>
              </a:spcBef>
              <a:buAutoNum type="arabicPeriod"/>
              <a:tabLst>
                <a:tab pos="354965" algn="l"/>
              </a:tabLst>
            </a:pPr>
            <a:r>
              <a:rPr lang="en-US" altLang="en-US" sz="2200" b="1" i="1" u="sng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Экологическая/Пользовательская проблема:</a:t>
            </a:r>
            <a:r>
              <a:rPr lang="en-US" altLang="en-US" sz="2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Неэффективность и высокая стоимость ручной очистки больших или труднодоступных водоемов. Существующие методы не обеспечивают непрерывный мониторинг и уборку.</a:t>
            </a:r>
            <a:endParaRPr lang="en-US" altLang="en-US" sz="2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marR="7620" indent="-341630" algn="just">
              <a:lnSpc>
                <a:spcPct val="110000"/>
              </a:lnSpc>
              <a:spcBef>
                <a:spcPts val="100"/>
              </a:spcBef>
              <a:buAutoNum type="arabicPeriod"/>
              <a:tabLst>
                <a:tab pos="354965" algn="l"/>
              </a:tabLst>
            </a:pPr>
            <a:r>
              <a:rPr lang="en-US" altLang="en-US" sz="2200" b="1" i="1" u="sng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Технологическая проблема:</a:t>
            </a:r>
            <a:r>
              <a:rPr lang="en-US" altLang="en-US" sz="22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Сложность создания герметичного, энергоэффективного и автономного робота, способного отличать пластиковый мусор от природных объектов (листья, птицы, рыба) в условиях бликов на воде.</a:t>
            </a:r>
            <a:endParaRPr lang="en-US" altLang="en-US" sz="2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marR="7620" indent="-341630" algn="just">
              <a:lnSpc>
                <a:spcPct val="110000"/>
              </a:lnSpc>
              <a:spcBef>
                <a:spcPts val="100"/>
              </a:spcBef>
              <a:buAutoNum type="arabicPeriod"/>
              <a:tabLst>
                <a:tab pos="354965" algn="l"/>
              </a:tabLst>
            </a:pPr>
            <a:r>
              <a:rPr lang="en-US" altLang="en-US" sz="2200" b="1" i="1" u="sng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Управленческая проблема:</a:t>
            </a:r>
            <a:r>
              <a:rPr lang="en-US" altLang="en-US" sz="2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Необходимость координации междисциплинарной работы (робототехника, программирование, гидрология, дизайн) в рамках ограниченных ресурсов, характерная для инновационных проектов.</a:t>
            </a:r>
            <a:endParaRPr lang="en-US" altLang="en-US" sz="2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53695" marR="7620" indent="-341630" algn="just">
              <a:lnSpc>
                <a:spcPct val="110000"/>
              </a:lnSpc>
              <a:spcBef>
                <a:spcPts val="100"/>
              </a:spcBef>
              <a:buAutoNum type="arabicPeriod"/>
              <a:tabLst>
                <a:tab pos="354965" algn="l"/>
              </a:tabLst>
            </a:pPr>
            <a:r>
              <a:rPr lang="en-US" altLang="en-US" sz="2200" b="1" i="1" u="sng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Рыночная проблема:</a:t>
            </a:r>
            <a:r>
              <a:rPr lang="en-US" altLang="en-US" sz="2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Высокая стоимость промышленных водных дронов, делающая их недоступными для небольших муниципалитетов, парков или частных баз отдыха.</a:t>
            </a:r>
            <a:endParaRPr lang="en-US" altLang="en-US" sz="2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790">
              <a:lnSpc>
                <a:spcPts val="142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8378" y="317754"/>
            <a:ext cx="573786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Источники</a:t>
            </a:r>
            <a:r>
              <a:rPr spc="-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финансирования</a:t>
            </a:r>
            <a:endParaRPr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400" y="6019800"/>
            <a:ext cx="3157220" cy="32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0" i="1" spc="-1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Оптимальное</a:t>
            </a:r>
            <a:r>
              <a:rPr sz="2000" b="0" i="1" spc="-10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0" i="1" spc="-1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сочетание:</a:t>
            </a:r>
            <a:endParaRPr sz="2000" b="0" i="1" spc="-1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91000" y="5867400"/>
            <a:ext cx="751967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50% — бюджет (гранты), 30% — венчур/ангельские инвестиции, 20% — проектное финансирование (пилотный контракт).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7" name="Таблица 6"/>
          <p:cNvGraphicFramePr/>
          <p:nvPr/>
        </p:nvGraphicFramePr>
        <p:xfrm>
          <a:off x="381000" y="1066800"/>
          <a:ext cx="11330305" cy="45923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21380"/>
                <a:gridCol w="7908925"/>
              </a:tblGrid>
              <a:tr h="62103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1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Источник</a:t>
                      </a:r>
                      <a:endParaRPr lang="en-US" altLang="zh-CN" sz="18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1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Применимость к проекту</a:t>
                      </a:r>
                      <a:endParaRPr lang="en-US" altLang="zh-CN" sz="18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68072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Внутренние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altLang="en-US" sz="1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Нет — стартап без собственного капитала.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69215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Бюджетное финансирование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altLang="en-US" sz="1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Приоритетный источник — гранты (Фонд содействия инновациям «УМНИК», </a:t>
                      </a:r>
                      <a:r>
                        <a:rPr lang="ru-RU" altLang="en-US" sz="1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Росмолодежь, гранты Минприроды).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67310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Венчурное финансирование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altLang="en-US" sz="1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Привлекательно: стартап в сфере GreenTech/ClimateTech вызывает высокий спрос у эко-фондов.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68072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Проектное финансирование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altLang="en-US" sz="1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Возможна модель: муниципалитет финансирует пилотный запуск в обмен на данные о чистоте водоема.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63436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Лизинг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altLang="en-US" sz="1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Для закупки специализированного оборудования (3D-принтеры, тестовые стенды).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61023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Кредиты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altLang="en-US" sz="1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Неэффективно: высокий риск на стадии прототипа, отсутствие залога.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790">
              <a:lnSpc>
                <a:spcPts val="142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8378" y="317754"/>
            <a:ext cx="573786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Жизненный</a:t>
            </a:r>
            <a:r>
              <a:rPr spc="-1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цикл</a:t>
            </a:r>
            <a:r>
              <a:rPr spc="-11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проекта</a:t>
            </a:r>
            <a:r>
              <a:rPr spc="-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(ЖЦП)</a:t>
            </a:r>
            <a:endParaRPr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8530" y="5973546"/>
            <a:ext cx="10528300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altLang="en-US" sz="18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Проект относится к</a:t>
            </a:r>
            <a:r>
              <a:rPr lang="en-US" altLang="en-US" sz="1800" spc="-10" dirty="0">
                <a:solidFill>
                  <a:srgbClr val="232834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 b="1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технически сложному, среднесрочному</a:t>
            </a:r>
            <a:r>
              <a:rPr lang="en-US" altLang="en-US" sz="1800" spc="-10" dirty="0">
                <a:solidFill>
                  <a:srgbClr val="232834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(около 10–12 месяцев)</a:t>
            </a:r>
            <a:r>
              <a:rPr sz="18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sz="1800"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6" name="Таблица 5"/>
          <p:cNvGraphicFramePr/>
          <p:nvPr/>
        </p:nvGraphicFramePr>
        <p:xfrm>
          <a:off x="370205" y="1010285"/>
          <a:ext cx="11330305" cy="474345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968750"/>
                <a:gridCol w="7361555"/>
              </a:tblGrid>
              <a:tr h="50609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1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Этап</a:t>
                      </a:r>
                      <a:endParaRPr lang="en-US" altLang="zh-CN" sz="18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1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Действия</a:t>
                      </a:r>
                      <a:endParaRPr lang="en-US" altLang="zh-CN" sz="18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55499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1. Разработка идеи (1-2</a:t>
                      </a:r>
                      <a:r>
                        <a:rPr lang="ru-RU" altLang="en-US" sz="16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zh-CN" sz="1600"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  <a:sym typeface="+mn-ea"/>
                        </a:rPr>
                        <a:t>Недели</a:t>
                      </a: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)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Выявление дефицита: отсутствие доступных автономных систем очистки малых водоемов.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56451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2. Концепция (3-4</a:t>
                      </a:r>
                      <a:r>
                        <a:rPr lang="ru-RU" altLang="en-US" sz="16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zh-CN" sz="1600"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  <a:sym typeface="+mn-ea"/>
                        </a:rPr>
                        <a:t>Недели</a:t>
                      </a: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)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Формулировка цели: «Робот как автономный эко-патрульный».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49657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3. Предпроектное обследование (5-8</a:t>
                      </a:r>
                      <a:r>
                        <a:rPr lang="ru-RU" altLang="en-US" sz="16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zh-CN" sz="1600"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  <a:sym typeface="+mn-ea"/>
                        </a:rPr>
                        <a:t>Недели</a:t>
                      </a: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)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Анализ рынка и патентных решений, выбор компонентной базы.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55499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4. Коммерческое предложение (9-12</a:t>
                      </a:r>
                      <a:r>
                        <a:rPr lang="ru-RU" altLang="en-US" sz="16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zh-CN" sz="1600"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  <a:sym typeface="+mn-ea"/>
                        </a:rPr>
                        <a:t>Недели</a:t>
                      </a: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)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Бизнес-план: B2G (муниципалитеты, парки) + B2B (частные базы отдыха, аквапарки).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51752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5. Проектирование (13-24</a:t>
                      </a:r>
                      <a:r>
                        <a:rPr lang="ru-RU" altLang="en-US" sz="16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zh-CN" sz="1600"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  <a:sym typeface="+mn-ea"/>
                        </a:rPr>
                        <a:t>Недели</a:t>
                      </a: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)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Механика + электроника + ПО (компьютерное зрение и навигация).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49720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6. Изготовление (25-36</a:t>
                      </a:r>
                      <a:r>
                        <a:rPr lang="ru-RU" altLang="en-US" sz="16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zh-CN" sz="1600"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  <a:sym typeface="+mn-ea"/>
                        </a:rPr>
                        <a:t>Недели</a:t>
                      </a: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)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3D-печать корпуса, сборка двигателей, датчиков, аккумуляторной батареи.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49657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7. Пуско-наладка (37-44</a:t>
                      </a:r>
                      <a:r>
                        <a:rPr lang="ru-RU" altLang="en-US" sz="16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zh-CN" sz="1600"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  <a:sym typeface="+mn-ea"/>
                        </a:rPr>
                        <a:t>Недели</a:t>
                      </a: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)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Тестирование в бассейне и в реальных условиях открытого водоема.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55499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8. Мониторинг (45-48</a:t>
                      </a:r>
                      <a:r>
                        <a:rPr lang="ru-RU" altLang="en-US" sz="1600"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  <a:sym typeface="+mn-ea"/>
                        </a:rPr>
                        <a:t> Недели</a:t>
                      </a:r>
                      <a:r>
                        <a:rPr lang="en-US" altLang="zh-CN" sz="16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)</a:t>
                      </a:r>
                      <a:endParaRPr lang="en-US" altLang="zh-CN" sz="16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Сбор телеметрии, корректировка алгоритмов, подготовка к масштабированию.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50862" y="960500"/>
            <a:ext cx="11090211" cy="1600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8378" y="125729"/>
            <a:ext cx="8200390" cy="83502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Логическая</a:t>
            </a:r>
            <a:r>
              <a:rPr spc="-1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таблица</a:t>
            </a:r>
            <a:r>
              <a:rPr spc="-1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проекта</a:t>
            </a:r>
            <a:r>
              <a:rPr spc="-1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(для</a:t>
            </a:r>
            <a:r>
              <a:rPr spc="-15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бюджетного финансирования)</a:t>
            </a:r>
            <a:endParaRPr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790">
              <a:lnSpc>
                <a:spcPts val="142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  <p:graphicFrame>
        <p:nvGraphicFramePr>
          <p:cNvPr id="7" name="Таблица 6"/>
          <p:cNvGraphicFramePr/>
          <p:nvPr/>
        </p:nvGraphicFramePr>
        <p:xfrm>
          <a:off x="381000" y="1066800"/>
          <a:ext cx="11330305" cy="45923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21380"/>
                <a:gridCol w="7908925"/>
              </a:tblGrid>
              <a:tr h="62103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Компонент</a:t>
                      </a:r>
                      <a:endParaRPr lang="en-US" altLang="zh-CN" sz="20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Описание</a:t>
                      </a:r>
                      <a:endParaRPr lang="en-US" altLang="zh-CN" sz="20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68072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Проблема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Накопление пластиковых отходов в городских и природных водоемах, ведущее к деградации экосистем и высоким затратам на ручную уборку.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69215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Цель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Снизить объем поверхностного пластикового мусора в целевых водоемах на 30% в течение года за счет внедрения автономной системы очистки.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67310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Задачи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1. Разработать и собрать прототип.2. Протестировать в реальных условиях.3. Получить патент на полезную модель.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68072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Методы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Компьютерное зрение для детекции объектов, катамаранная гидродинамика, автономная навигация по GPS-точкам.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63436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Ресурсы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Команда, университетская лаборатория робототехники, бюджет на прототип (~3–5 млн руб.).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61023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Внешние условия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ystem-ui"/>
                          <a:cs typeface="Times New Roman" panose="02020603050405020304" charset="0"/>
                        </a:rPr>
                        <a:t>Поддержка местной администрации, глобальный тренд на ESG и экологическую ответственность бизнеса.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system-ui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50862" y="960500"/>
            <a:ext cx="11090211" cy="1600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45061" y="649813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2855"/>
                </a:solidFill>
                <a:latin typeface="Microsoft Sans Serif" panose="020B0604020202020204"/>
                <a:cs typeface="Microsoft Sans Serif" panose="020B0604020202020204"/>
              </a:rPr>
              <a:t>8</a:t>
            </a:r>
            <a:endParaRPr sz="120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38378" y="317754"/>
            <a:ext cx="573786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Оценка</a:t>
            </a:r>
            <a:r>
              <a:rPr spc="-1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эффективности</a:t>
            </a:r>
            <a:endParaRPr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498" y="685766"/>
            <a:ext cx="11085195" cy="191897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55"/>
              </a:spcBef>
            </a:pPr>
            <a:r>
              <a:rPr sz="2200" b="0" i="1" u="sng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Целевая</a:t>
            </a:r>
            <a:r>
              <a:rPr sz="2200" b="0" i="1" u="sng" spc="-6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b="0" i="1" u="sng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функция</a:t>
            </a:r>
            <a:r>
              <a:rPr sz="2200" b="0" i="1" u="sng" spc="-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b="0" i="1" u="sng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управления</a:t>
            </a:r>
            <a:r>
              <a:rPr sz="2200" b="0" i="1" u="sng" spc="-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b="0" i="1" u="sng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стоимостью:</a:t>
            </a:r>
            <a:r>
              <a:rPr sz="2200" b="0" i="1" u="sng" spc="-20" dirty="0">
                <a:solidFill>
                  <a:srgbClr val="005AAA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i="0" dirty="0">
                <a:solidFill>
                  <a:srgbClr val="232834"/>
                </a:solidFill>
                <a:latin typeface="Times New Roman" panose="02020603050405020304" charset="0"/>
                <a:cs typeface="Times New Roman" panose="02020603050405020304" charset="0"/>
              </a:rPr>
              <a:t>f</a:t>
            </a:r>
            <a:r>
              <a:rPr sz="2200" i="0" spc="-60" dirty="0">
                <a:solidFill>
                  <a:srgbClr val="232834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i="0" dirty="0">
                <a:solidFill>
                  <a:srgbClr val="232834"/>
                </a:solidFill>
                <a:latin typeface="Times New Roman" panose="02020603050405020304" charset="0"/>
                <a:cs typeface="Times New Roman" panose="02020603050405020304" charset="0"/>
              </a:rPr>
              <a:t>=</a:t>
            </a:r>
            <a:r>
              <a:rPr sz="2200" i="0" spc="-55" dirty="0">
                <a:solidFill>
                  <a:srgbClr val="232834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i="0" dirty="0">
                <a:solidFill>
                  <a:srgbClr val="232834"/>
                </a:solidFill>
                <a:latin typeface="Times New Roman" panose="02020603050405020304" charset="0"/>
                <a:cs typeface="Times New Roman" panose="02020603050405020304" charset="0"/>
              </a:rPr>
              <a:t>max(F),</a:t>
            </a:r>
            <a:r>
              <a:rPr sz="2200" i="0" spc="-25" dirty="0">
                <a:solidFill>
                  <a:srgbClr val="232834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i="0" dirty="0">
                <a:solidFill>
                  <a:srgbClr val="232834"/>
                </a:solidFill>
                <a:latin typeface="Times New Roman" panose="02020603050405020304" charset="0"/>
                <a:cs typeface="Times New Roman" panose="02020603050405020304" charset="0"/>
              </a:rPr>
              <a:t>где</a:t>
            </a:r>
            <a:r>
              <a:rPr sz="2200" i="0" spc="-50" dirty="0">
                <a:solidFill>
                  <a:srgbClr val="232834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i="0" dirty="0">
                <a:solidFill>
                  <a:srgbClr val="232834"/>
                </a:solidFill>
                <a:latin typeface="Times New Roman" panose="02020603050405020304" charset="0"/>
                <a:cs typeface="Times New Roman" panose="02020603050405020304" charset="0"/>
              </a:rPr>
              <a:t>F</a:t>
            </a:r>
            <a:r>
              <a:rPr sz="2200" i="0" spc="-95" dirty="0">
                <a:solidFill>
                  <a:srgbClr val="232834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i="0" dirty="0">
                <a:solidFill>
                  <a:srgbClr val="232834"/>
                </a:solidFill>
                <a:latin typeface="Times New Roman" panose="02020603050405020304" charset="0"/>
                <a:cs typeface="Times New Roman" panose="02020603050405020304" charset="0"/>
              </a:rPr>
              <a:t>=</a:t>
            </a:r>
            <a:r>
              <a:rPr sz="2200" i="0" spc="-65" dirty="0">
                <a:solidFill>
                  <a:srgbClr val="232834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i="0" dirty="0">
                <a:solidFill>
                  <a:srgbClr val="232834"/>
                </a:solidFill>
                <a:latin typeface="Times New Roman" panose="02020603050405020304" charset="0"/>
                <a:cs typeface="Times New Roman" panose="02020603050405020304" charset="0"/>
              </a:rPr>
              <a:t>D</a:t>
            </a:r>
            <a:r>
              <a:rPr sz="2200" i="0" spc="-55" dirty="0">
                <a:solidFill>
                  <a:srgbClr val="232834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i="0" dirty="0">
                <a:solidFill>
                  <a:srgbClr val="232834"/>
                </a:solidFill>
                <a:latin typeface="Times New Roman" panose="02020603050405020304" charset="0"/>
                <a:cs typeface="Times New Roman" panose="02020603050405020304" charset="0"/>
              </a:rPr>
              <a:t>–</a:t>
            </a:r>
            <a:r>
              <a:rPr sz="2200" i="0" spc="-60" dirty="0">
                <a:solidFill>
                  <a:srgbClr val="232834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i="0" spc="-25" dirty="0">
                <a:solidFill>
                  <a:srgbClr val="232834"/>
                </a:solidFill>
                <a:latin typeface="Times New Roman" panose="02020603050405020304" charset="0"/>
                <a:cs typeface="Times New Roman" panose="02020603050405020304" charset="0"/>
              </a:rPr>
              <a:t>Z.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12700" marR="5080" algn="just">
              <a:lnSpc>
                <a:spcPts val="2160"/>
              </a:lnSpc>
              <a:spcBef>
                <a:spcPts val="1240"/>
              </a:spcBef>
            </a:pPr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В данном проекте </a:t>
            </a:r>
            <a:r>
              <a:rPr lang="en-US" altLang="ru-RU" sz="2200" i="1">
                <a:latin typeface="Times New Roman" panose="02020603050405020304" charset="0"/>
                <a:cs typeface="Times New Roman" panose="02020603050405020304" charset="0"/>
              </a:rPr>
              <a:t>D</a:t>
            </a:r>
            <a:r>
              <a:rPr lang="en-US" altLang="ru-RU" sz="2200">
                <a:latin typeface="Times New Roman" panose="02020603050405020304" charset="0"/>
                <a:cs typeface="Times New Roman" panose="02020603050405020304" charset="0"/>
              </a:rPr>
              <a:t> – </a:t>
            </a:r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это стоимость созданного интеллектуального капитала (рабочий прототип, алгоритмы </a:t>
            </a:r>
            <a:r>
              <a:rPr lang="en-US" altLang="ru-RU" sz="2200">
                <a:latin typeface="Times New Roman" panose="02020603050405020304" charset="0"/>
                <a:cs typeface="Times New Roman" panose="02020603050405020304" charset="0"/>
              </a:rPr>
              <a:t>CV, </a:t>
            </a:r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патент) и потенциальный доход от госзаказов. Задача – максимизировать этот потенциал при минимизации </a:t>
            </a:r>
            <a:r>
              <a:rPr lang="en-US" altLang="ru-RU" sz="2200">
                <a:latin typeface="Times New Roman" panose="02020603050405020304" charset="0"/>
                <a:cs typeface="Times New Roman" panose="02020603050405020304" charset="0"/>
              </a:rPr>
              <a:t>Z (</a:t>
            </a:r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затрат на разработку).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algn="just">
              <a:lnSpc>
                <a:spcPct val="100000"/>
              </a:lnSpc>
              <a:spcBef>
                <a:spcPts val="820"/>
              </a:spcBef>
            </a:pPr>
            <a:r>
              <a:rPr sz="2200" i="1" u="sng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Ключевые</a:t>
            </a:r>
            <a:r>
              <a:rPr sz="2200" i="1" u="sng" spc="-11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i="1" u="sng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показатели:</a:t>
            </a:r>
            <a:endParaRPr sz="2200" i="1" u="sng"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8480" y="2931160"/>
            <a:ext cx="4883785" cy="667385"/>
          </a:xfrm>
          <a:prstGeom prst="rect">
            <a:avLst/>
          </a:prstGeom>
        </p:spPr>
        <p:txBody>
          <a:bodyPr vert="horz" wrap="square" lIns="0" tIns="94615" rIns="0" bIns="0" rtlCol="0">
            <a:noAutofit/>
          </a:bodyPr>
          <a:lstStyle/>
          <a:p>
            <a:pPr marL="354965" marR="5080" indent="-342900">
              <a:lnSpc>
                <a:spcPct val="70000"/>
              </a:lnSpc>
              <a:spcBef>
                <a:spcPts val="745"/>
              </a:spcBef>
              <a:buFont typeface="Microsoft Sans Serif" panose="020B0604020202020204"/>
              <a:buChar char="•"/>
              <a:tabLst>
                <a:tab pos="354965" algn="l"/>
              </a:tabLst>
            </a:pPr>
            <a:r>
              <a:rPr sz="1800" b="1" i="1" dirty="0">
                <a:solidFill>
                  <a:srgbClr val="232834"/>
                </a:solidFill>
                <a:latin typeface="Arial" panose="020B0604020202020204"/>
                <a:cs typeface="Arial" panose="020B0604020202020204"/>
              </a:rPr>
              <a:t>NPV</a:t>
            </a:r>
            <a:r>
              <a:rPr sz="1800" b="1" i="1" spc="-15" dirty="0">
                <a:solidFill>
                  <a:srgbClr val="23283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232834"/>
                </a:solidFill>
                <a:latin typeface="Arial" panose="020B0604020202020204"/>
                <a:cs typeface="Arial" panose="020B0604020202020204"/>
              </a:rPr>
              <a:t>&gt;</a:t>
            </a:r>
            <a:r>
              <a:rPr sz="1800" b="1" spc="-15" dirty="0">
                <a:solidFill>
                  <a:srgbClr val="23283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232834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1800" b="1" spc="-10" dirty="0">
                <a:solidFill>
                  <a:srgbClr val="23283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232834"/>
                </a:solidFill>
                <a:latin typeface="Microsoft Sans Serif" panose="020B0604020202020204"/>
                <a:cs typeface="Microsoft Sans Serif" panose="020B0604020202020204"/>
              </a:rPr>
              <a:t>при</a:t>
            </a:r>
            <a:r>
              <a:rPr sz="1800" spc="10" dirty="0">
                <a:solidFill>
                  <a:srgbClr val="23283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800" dirty="0">
                <a:solidFill>
                  <a:srgbClr val="232834"/>
                </a:solidFill>
                <a:latin typeface="Microsoft Sans Serif" panose="020B0604020202020204"/>
                <a:cs typeface="Microsoft Sans Serif" panose="020B0604020202020204"/>
              </a:rPr>
              <a:t>ставке</a:t>
            </a:r>
            <a:r>
              <a:rPr sz="1800" spc="10" dirty="0">
                <a:solidFill>
                  <a:srgbClr val="23283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800" spc="-10" dirty="0">
                <a:solidFill>
                  <a:srgbClr val="232834"/>
                </a:solidFill>
                <a:latin typeface="Microsoft Sans Serif" panose="020B0604020202020204"/>
                <a:cs typeface="Microsoft Sans Serif" panose="020B0604020202020204"/>
              </a:rPr>
              <a:t>дисконтирования</a:t>
            </a:r>
            <a:r>
              <a:rPr sz="1800" spc="15" dirty="0">
                <a:solidFill>
                  <a:srgbClr val="23283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800" spc="-25" dirty="0">
                <a:solidFill>
                  <a:srgbClr val="232834"/>
                </a:solidFill>
                <a:latin typeface="Microsoft Sans Serif" panose="020B0604020202020204"/>
                <a:cs typeface="Microsoft Sans Serif" panose="020B0604020202020204"/>
              </a:rPr>
              <a:t>1</a:t>
            </a:r>
            <a:r>
              <a:rPr lang="en-US" altLang="en-US" sz="1800" spc="-25" dirty="0">
                <a:solidFill>
                  <a:srgbClr val="232834"/>
                </a:solidFill>
                <a:latin typeface="Microsoft Sans Serif" panose="020B0604020202020204"/>
                <a:cs typeface="Microsoft Sans Serif" panose="020B0604020202020204"/>
              </a:rPr>
              <a:t>5</a:t>
            </a:r>
            <a:r>
              <a:rPr sz="1800" spc="-25" dirty="0">
                <a:solidFill>
                  <a:srgbClr val="232834"/>
                </a:solidFill>
                <a:latin typeface="Microsoft Sans Serif" panose="020B0604020202020204"/>
                <a:cs typeface="Microsoft Sans Serif" panose="020B0604020202020204"/>
              </a:rPr>
              <a:t>% </a:t>
            </a:r>
            <a:endParaRPr sz="1800">
              <a:latin typeface="Microsoft Sans Serif" panose="020B0604020202020204"/>
              <a:cs typeface="Microsoft Sans Serif" panose="020B0604020202020204"/>
            </a:endParaRPr>
          </a:p>
          <a:p>
            <a:pPr marL="354965" indent="-342265">
              <a:lnSpc>
                <a:spcPct val="100000"/>
              </a:lnSpc>
              <a:spcBef>
                <a:spcPts val="555"/>
              </a:spcBef>
              <a:buFont typeface="Microsoft Sans Serif" panose="020B0604020202020204"/>
              <a:buChar char="•"/>
              <a:tabLst>
                <a:tab pos="354965" algn="l"/>
              </a:tabLst>
            </a:pPr>
            <a:r>
              <a:rPr sz="1800" b="1" i="1" dirty="0">
                <a:solidFill>
                  <a:srgbClr val="232834"/>
                </a:solidFill>
                <a:latin typeface="Arial" panose="020B0604020202020204"/>
                <a:cs typeface="Arial" panose="020B0604020202020204"/>
              </a:rPr>
              <a:t>IRR</a:t>
            </a:r>
            <a:r>
              <a:rPr sz="1800" b="1" i="1" spc="-35" dirty="0">
                <a:solidFill>
                  <a:srgbClr val="23283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232834"/>
                </a:solidFill>
                <a:latin typeface="Arial" panose="020B0604020202020204"/>
                <a:cs typeface="Arial" panose="020B0604020202020204"/>
              </a:rPr>
              <a:t>&gt;</a:t>
            </a:r>
            <a:r>
              <a:rPr sz="1800" b="1" spc="-35" dirty="0">
                <a:solidFill>
                  <a:srgbClr val="23283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altLang="en-US" sz="1800" b="1" dirty="0">
                <a:solidFill>
                  <a:srgbClr val="232834"/>
                </a:solidFill>
                <a:latin typeface="Arial" panose="020B0604020202020204"/>
                <a:cs typeface="Arial" panose="020B0604020202020204"/>
              </a:rPr>
              <a:t>20</a:t>
            </a:r>
            <a:r>
              <a:rPr sz="1800" b="1" dirty="0">
                <a:solidFill>
                  <a:srgbClr val="232834"/>
                </a:solidFill>
                <a:latin typeface="Arial" panose="020B0604020202020204"/>
                <a:cs typeface="Arial" panose="020B0604020202020204"/>
              </a:rPr>
              <a:t>%</a:t>
            </a:r>
            <a:r>
              <a:rPr sz="1800" b="1" spc="-30" dirty="0">
                <a:solidFill>
                  <a:srgbClr val="23283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745" dirty="0">
                <a:solidFill>
                  <a:srgbClr val="232834"/>
                </a:solidFill>
                <a:latin typeface="Microsoft Sans Serif" panose="020B0604020202020204"/>
                <a:cs typeface="Microsoft Sans Serif" panose="020B0604020202020204"/>
              </a:rPr>
              <a:t>—</a:t>
            </a:r>
            <a:r>
              <a:rPr sz="1800" spc="-15" dirty="0">
                <a:solidFill>
                  <a:srgbClr val="23283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800" dirty="0">
                <a:solidFill>
                  <a:srgbClr val="232834"/>
                </a:solidFill>
                <a:latin typeface="Microsoft Sans Serif" panose="020B0604020202020204"/>
                <a:cs typeface="Microsoft Sans Serif" panose="020B0604020202020204"/>
              </a:rPr>
              <a:t>целевой</a:t>
            </a:r>
            <a:r>
              <a:rPr sz="1800" spc="-10" dirty="0">
                <a:solidFill>
                  <a:srgbClr val="232834"/>
                </a:solidFill>
                <a:latin typeface="Microsoft Sans Serif" panose="020B0604020202020204"/>
                <a:cs typeface="Microsoft Sans Serif" panose="020B0604020202020204"/>
              </a:rPr>
              <a:t> показатель</a:t>
            </a:r>
            <a:endParaRPr sz="1800" spc="-10" dirty="0">
              <a:solidFill>
                <a:srgbClr val="232834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 marL="354965" indent="-342265">
              <a:lnSpc>
                <a:spcPct val="100000"/>
              </a:lnSpc>
              <a:spcBef>
                <a:spcPts val="555"/>
              </a:spcBef>
              <a:buFont typeface="Microsoft Sans Serif" panose="020B0604020202020204"/>
              <a:buChar char="•"/>
              <a:tabLst>
                <a:tab pos="354965" algn="l"/>
              </a:tabLst>
            </a:pPr>
            <a:endParaRPr sz="1800">
              <a:latin typeface="Microsoft Sans Serif" panose="020B0604020202020204"/>
              <a:cs typeface="Microsoft Sans Serif" panose="020B0604020202020204"/>
            </a:endParaRPr>
          </a:p>
          <a:p>
            <a:pPr marL="12700" indent="0">
              <a:lnSpc>
                <a:spcPct val="100000"/>
              </a:lnSpc>
              <a:spcBef>
                <a:spcPts val="555"/>
              </a:spcBef>
              <a:buFont typeface="Microsoft Sans Serif" panose="020B0604020202020204"/>
              <a:buNone/>
              <a:tabLst>
                <a:tab pos="354965" algn="l"/>
              </a:tabLst>
            </a:pPr>
            <a:endParaRPr lang="ru-RU" altLang="en-US" sz="180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18225" y="2891155"/>
            <a:ext cx="4121785" cy="70675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50"/>
              </a:spcBef>
              <a:buFont typeface="Microsoft Sans Serif" panose="020B0604020202020204"/>
              <a:buChar char="•"/>
              <a:tabLst>
                <a:tab pos="354965" algn="l"/>
              </a:tabLst>
            </a:pPr>
            <a:r>
              <a:rPr sz="1800" b="1" dirty="0">
                <a:solidFill>
                  <a:srgbClr val="232834"/>
                </a:solidFill>
                <a:latin typeface="Arial" panose="020B0604020202020204"/>
                <a:cs typeface="Arial" panose="020B0604020202020204"/>
              </a:rPr>
              <a:t>Срок</a:t>
            </a:r>
            <a:r>
              <a:rPr sz="1800" b="1" spc="-35" dirty="0">
                <a:solidFill>
                  <a:srgbClr val="23283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232834"/>
                </a:solidFill>
                <a:latin typeface="Arial" panose="020B0604020202020204"/>
                <a:cs typeface="Arial" panose="020B0604020202020204"/>
              </a:rPr>
              <a:t>окупаемости</a:t>
            </a:r>
            <a:r>
              <a:rPr sz="1800" b="1" spc="30" dirty="0">
                <a:solidFill>
                  <a:srgbClr val="23283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i="1" dirty="0">
                <a:solidFill>
                  <a:srgbClr val="232834"/>
                </a:solidFill>
                <a:latin typeface="Arial" panose="020B0604020202020204"/>
                <a:cs typeface="Arial" panose="020B0604020202020204"/>
              </a:rPr>
              <a:t>РР</a:t>
            </a:r>
            <a:r>
              <a:rPr sz="1800" b="1" dirty="0">
                <a:solidFill>
                  <a:srgbClr val="232834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1800" b="1" spc="-40" dirty="0">
                <a:solidFill>
                  <a:srgbClr val="23283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altLang="en-US" sz="1800" dirty="0">
                <a:solidFill>
                  <a:srgbClr val="232834"/>
                </a:solidFill>
                <a:latin typeface="Microsoft Sans Serif" panose="020B0604020202020204"/>
                <a:cs typeface="Microsoft Sans Serif" panose="020B0604020202020204"/>
              </a:rPr>
              <a:t>2</a:t>
            </a:r>
            <a:r>
              <a:rPr lang="ru-RU" altLang="en-US" sz="1800" dirty="0">
                <a:solidFill>
                  <a:srgbClr val="232834"/>
                </a:solidFill>
                <a:latin typeface="Microsoft Sans Serif" panose="020B0604020202020204"/>
                <a:cs typeface="Microsoft Sans Serif" panose="020B0604020202020204"/>
              </a:rPr>
              <a:t>,</a:t>
            </a:r>
            <a:r>
              <a:rPr lang="en-US" altLang="en-US" sz="1800" dirty="0">
                <a:solidFill>
                  <a:srgbClr val="232834"/>
                </a:solidFill>
                <a:latin typeface="Microsoft Sans Serif" panose="020B0604020202020204"/>
                <a:cs typeface="Microsoft Sans Serif" panose="020B0604020202020204"/>
              </a:rPr>
              <a:t>5-3</a:t>
            </a:r>
            <a:r>
              <a:rPr sz="1800" spc="-10" dirty="0">
                <a:solidFill>
                  <a:srgbClr val="23283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800" spc="-20" dirty="0">
                <a:solidFill>
                  <a:srgbClr val="232834"/>
                </a:solidFill>
                <a:latin typeface="Microsoft Sans Serif" panose="020B0604020202020204"/>
                <a:cs typeface="Microsoft Sans Serif" panose="020B0604020202020204"/>
              </a:rPr>
              <a:t>года</a:t>
            </a:r>
            <a:endParaRPr sz="1800">
              <a:latin typeface="Microsoft Sans Serif" panose="020B0604020202020204"/>
              <a:cs typeface="Microsoft Sans Serif" panose="020B0604020202020204"/>
            </a:endParaRPr>
          </a:p>
          <a:p>
            <a:pPr marL="354965" indent="-342265">
              <a:lnSpc>
                <a:spcPct val="100000"/>
              </a:lnSpc>
              <a:spcBef>
                <a:spcPts val="550"/>
              </a:spcBef>
              <a:buFont typeface="Microsoft Sans Serif" panose="020B0604020202020204"/>
              <a:buChar char="•"/>
              <a:tabLst>
                <a:tab pos="354965" algn="l"/>
              </a:tabLst>
            </a:pPr>
            <a:r>
              <a:rPr sz="1800" b="1" dirty="0">
                <a:solidFill>
                  <a:srgbClr val="232834"/>
                </a:solidFill>
                <a:latin typeface="Arial" panose="020B0604020202020204"/>
                <a:cs typeface="Arial" panose="020B0604020202020204"/>
              </a:rPr>
              <a:t>Индекс</a:t>
            </a:r>
            <a:r>
              <a:rPr sz="1800" b="1" spc="-60" dirty="0">
                <a:solidFill>
                  <a:srgbClr val="23283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232834"/>
                </a:solidFill>
                <a:latin typeface="Arial" panose="020B0604020202020204"/>
                <a:cs typeface="Arial" panose="020B0604020202020204"/>
              </a:rPr>
              <a:t>рентабельности </a:t>
            </a:r>
            <a:r>
              <a:rPr sz="1800" b="1" i="1" dirty="0">
                <a:solidFill>
                  <a:srgbClr val="232834"/>
                </a:solidFill>
                <a:latin typeface="Arial" panose="020B0604020202020204"/>
                <a:cs typeface="Arial" panose="020B0604020202020204"/>
              </a:rPr>
              <a:t>PI</a:t>
            </a:r>
            <a:r>
              <a:rPr sz="1800" b="1" i="1" spc="-60" dirty="0">
                <a:solidFill>
                  <a:srgbClr val="23283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232834"/>
                </a:solidFill>
                <a:latin typeface="Arial" panose="020B0604020202020204"/>
                <a:cs typeface="Arial" panose="020B0604020202020204"/>
              </a:rPr>
              <a:t>&gt;</a:t>
            </a:r>
            <a:r>
              <a:rPr sz="1800" b="1" spc="-60" dirty="0">
                <a:solidFill>
                  <a:srgbClr val="23283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25" dirty="0">
                <a:solidFill>
                  <a:srgbClr val="232834"/>
                </a:solidFill>
                <a:latin typeface="Arial" panose="020B0604020202020204"/>
                <a:cs typeface="Arial" panose="020B0604020202020204"/>
              </a:rPr>
              <a:t>1,</a:t>
            </a:r>
            <a:r>
              <a:rPr lang="ru-RU" altLang="en-US" sz="1800" b="1" spc="-25" dirty="0">
                <a:solidFill>
                  <a:srgbClr val="232834"/>
                </a:solidFill>
                <a:latin typeface="Arial" panose="020B0604020202020204"/>
                <a:cs typeface="Arial" panose="020B0604020202020204"/>
              </a:rPr>
              <a:t>3</a:t>
            </a:r>
            <a:endParaRPr lang="ru-RU" altLang="en-US" sz="1800" b="1" spc="-25" dirty="0">
              <a:solidFill>
                <a:srgbClr val="232834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9115" y="3645535"/>
            <a:ext cx="10727055" cy="2297430"/>
          </a:xfrm>
          <a:prstGeom prst="rect">
            <a:avLst/>
          </a:prstGeom>
        </p:spPr>
        <p:txBody>
          <a:bodyPr vert="horz" wrap="square" lIns="0" tIns="107314" rIns="0" bIns="0" rtlCol="0">
            <a:noAutofit/>
          </a:bodyPr>
          <a:lstStyle/>
          <a:p>
            <a:pPr marL="12700" algn="just">
              <a:lnSpc>
                <a:spcPct val="100000"/>
              </a:lnSpc>
              <a:spcBef>
                <a:spcPts val="845"/>
              </a:spcBef>
            </a:pPr>
            <a:r>
              <a:rPr sz="1800" i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Критерии</a:t>
            </a:r>
            <a:r>
              <a:rPr sz="1800" i="1" u="sng" spc="-9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i="1" u="sng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успеха:</a:t>
            </a:r>
            <a:r>
              <a:rPr lang="ru-RU" altLang="en-US" sz="2200" i="1" spc="-10" dirty="0">
                <a:solidFill>
                  <a:srgbClr val="005AAA"/>
                </a:solidFill>
                <a:latin typeface="Arial" panose="020B0604020202020204"/>
                <a:cs typeface="Arial" panose="020B0604020202020204"/>
              </a:rPr>
              <a:t> </a:t>
            </a:r>
            <a:endParaRPr lang="ru-RU" altLang="en-US" sz="2200" i="1" spc="-10" dirty="0">
              <a:solidFill>
                <a:srgbClr val="005AAA"/>
              </a:solidFill>
              <a:latin typeface="Arial" panose="020B0604020202020204"/>
              <a:cs typeface="Arial" panose="020B0604020202020204"/>
            </a:endParaRPr>
          </a:p>
          <a:p>
            <a:pPr marL="12700" algn="just">
              <a:lnSpc>
                <a:spcPct val="100000"/>
              </a:lnSpc>
              <a:spcBef>
                <a:spcPts val="845"/>
              </a:spcBef>
            </a:pPr>
            <a:r>
              <a:rPr lang="ru-RU" altLang="en-US" sz="2000" i="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1.</a:t>
            </a:r>
            <a:r>
              <a:rPr lang="ru-RU" altLang="en-US" sz="2000" i="1" spc="-10" dirty="0">
                <a:solidFill>
                  <a:srgbClr val="005AAA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altLang="en-US" sz="2000" i="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Техническая эффективность: Достижение 90% эффективности сбора, 4+ часа автономности, надежное распознавание мусора.</a:t>
            </a:r>
            <a:endParaRPr lang="en-US" altLang="en-US" sz="2000" i="0"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algn="just">
              <a:lnSpc>
                <a:spcPct val="100000"/>
              </a:lnSpc>
              <a:spcBef>
                <a:spcPts val="845"/>
              </a:spcBef>
            </a:pPr>
            <a:r>
              <a:rPr lang="ru-RU" altLang="en-US" sz="2000" i="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2. </a:t>
            </a:r>
            <a:r>
              <a:rPr lang="en-US" altLang="en-US" sz="2000" i="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Экономическая оценка: Расчет </a:t>
            </a:r>
            <a:r>
              <a:rPr lang="en-US" altLang="ru-RU" sz="2000" i="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NPV/IRR </a:t>
            </a:r>
            <a:r>
              <a:rPr lang="en-US" altLang="en-US" sz="2000" i="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для гипотетического малого серийного производства (10-50 шт. в год).</a:t>
            </a:r>
            <a:endParaRPr lang="en-US" altLang="en-US" sz="2000" i="0"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algn="just">
              <a:lnSpc>
                <a:spcPct val="100000"/>
              </a:lnSpc>
              <a:spcBef>
                <a:spcPts val="845"/>
              </a:spcBef>
            </a:pPr>
            <a:r>
              <a:rPr lang="ru-RU" altLang="en-US" sz="2000" i="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3. </a:t>
            </a:r>
            <a:r>
              <a:rPr lang="en-US" altLang="en-US" sz="2000" i="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Качественные эффекты: Создание демонстратора технологии, пригодного для победы в грантовых конкурсах или презентации инвесторам.</a:t>
            </a:r>
            <a:endParaRPr lang="en-US" altLang="en-US" sz="2000" i="0"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50862" y="960500"/>
            <a:ext cx="11090211" cy="1600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8378" y="317754"/>
            <a:ext cx="573786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Команда</a:t>
            </a:r>
            <a:r>
              <a:rPr spc="-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spc="-7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инфраструктура</a:t>
            </a:r>
            <a:endParaRPr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533400" y="976579"/>
            <a:ext cx="10791190" cy="498792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500"/>
              </a:spcBef>
            </a:pPr>
            <a:r>
              <a:rPr lang="en-US" altLang="en-US" sz="1800" b="1" u="sng">
                <a:latin typeface="Times New Roman" panose="02020603050405020304" charset="0"/>
                <a:cs typeface="Times New Roman" panose="02020603050405020304" charset="0"/>
              </a:rPr>
              <a:t>Команда:</a:t>
            </a:r>
            <a:endParaRPr lang="en-US" altLang="en-US" sz="18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algn="just">
              <a:lnSpc>
                <a:spcPct val="100000"/>
              </a:lnSpc>
              <a:spcBef>
                <a:spcPts val="500"/>
              </a:spcBef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• Руководитель проекта (менеджер и системный архитектор)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algn="just">
              <a:lnSpc>
                <a:spcPct val="100000"/>
              </a:lnSpc>
              <a:spcBef>
                <a:spcPts val="500"/>
              </a:spcBef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• Инженер-робототехник (механика, электроника, герметизация)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algn="just">
              <a:lnSpc>
                <a:spcPct val="100000"/>
              </a:lnSpc>
              <a:spcBef>
                <a:spcPts val="500"/>
              </a:spcBef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• Программист (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Computer Vision, ML,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навигация)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algn="just">
              <a:lnSpc>
                <a:spcPct val="100000"/>
              </a:lnSpc>
              <a:spcBef>
                <a:spcPts val="500"/>
              </a:spcBef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• Эколог/Гидролог (консультант по воздействию на среду)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algn="just">
              <a:lnSpc>
                <a:spcPct val="100000"/>
              </a:lnSpc>
              <a:spcBef>
                <a:spcPts val="500"/>
              </a:spcBef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• Финансовый аналитик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algn="just">
              <a:lnSpc>
                <a:spcPct val="100000"/>
              </a:lnSpc>
              <a:spcBef>
                <a:spcPts val="500"/>
              </a:spcBef>
            </a:pP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algn="just">
              <a:lnSpc>
                <a:spcPct val="100000"/>
              </a:lnSpc>
              <a:spcBef>
                <a:spcPts val="500"/>
              </a:spcBef>
            </a:pPr>
            <a:r>
              <a:rPr lang="en-US" altLang="en-US" sz="1800" b="1" u="sng">
                <a:latin typeface="Times New Roman" panose="02020603050405020304" charset="0"/>
                <a:cs typeface="Times New Roman" panose="02020603050405020304" charset="0"/>
              </a:rPr>
              <a:t>Инфраструктура:</a:t>
            </a:r>
            <a:endParaRPr lang="en-US" altLang="en-US" sz="18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algn="just">
              <a:lnSpc>
                <a:spcPct val="100000"/>
              </a:lnSpc>
              <a:spcBef>
                <a:spcPts val="500"/>
              </a:spcBef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• Лаборатория робототехники и 3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D-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печати (партнерство с университетом)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algn="just">
              <a:lnSpc>
                <a:spcPct val="100000"/>
              </a:lnSpc>
              <a:spcBef>
                <a:spcPts val="500"/>
              </a:spcBef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• Контролируемый водоем или тестовый бассейн для испытаний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algn="just">
              <a:lnSpc>
                <a:spcPct val="100000"/>
              </a:lnSpc>
              <a:spcBef>
                <a:spcPts val="500"/>
              </a:spcBef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• Облачная платформа для хранения телеметрии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algn="just">
              <a:lnSpc>
                <a:spcPct val="100000"/>
              </a:lnSpc>
              <a:spcBef>
                <a:spcPts val="500"/>
              </a:spcBef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• Патентное бюро для защиты интеллектуальной собственности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algn="just">
              <a:lnSpc>
                <a:spcPct val="100000"/>
              </a:lnSpc>
              <a:spcBef>
                <a:spcPts val="500"/>
              </a:spcBef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104140" marR="5080" algn="just">
              <a:lnSpc>
                <a:spcPct val="100000"/>
              </a:lnSpc>
            </a:pPr>
            <a:r>
              <a:rPr sz="1800" i="1" u="sng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Необходимое</a:t>
            </a:r>
            <a:r>
              <a:rPr sz="1800" i="1" u="sng"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sz="1800" i="1" u="sng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распределение  ресурсов:</a:t>
            </a:r>
            <a:r>
              <a:rPr sz="1800" i="1" spc="-10" dirty="0">
                <a:solidFill>
                  <a:srgbClr val="005AAA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60% ресурсов — на 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R&amp;D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и создание физического прототипа (материалы, датчики), 40% — на разработку ПО и полевые испытания.</a:t>
            </a:r>
            <a:r>
              <a:rPr sz="1800" i="1" spc="-10" dirty="0">
                <a:solidFill>
                  <a:srgbClr val="005AAA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sz="2000">
              <a:latin typeface="Microsoft Sans Serif" panose="020B0604020202020204"/>
              <a:cs typeface="Microsoft Sans Serif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50862" y="960500"/>
            <a:ext cx="11090211" cy="1600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0443" y="305054"/>
            <a:ext cx="573786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Заключение</a:t>
            </a:r>
            <a:r>
              <a:rPr spc="-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spc="-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перспективы</a:t>
            </a:r>
            <a:endParaRPr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527685" y="1078865"/>
            <a:ext cx="11014075" cy="183388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u="sng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Итоги</a:t>
            </a:r>
            <a:r>
              <a:rPr sz="2000" b="1" u="sng" spc="-8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u="sng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проекта:</a:t>
            </a:r>
            <a:endParaRPr sz="2000" b="1" u="sng"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indent="0">
              <a:lnSpc>
                <a:spcPct val="100000"/>
              </a:lnSpc>
              <a:spcBef>
                <a:spcPts val="1455"/>
              </a:spcBef>
              <a:buNone/>
              <a:tabLst>
                <a:tab pos="299085" algn="l"/>
              </a:tabLst>
            </a:pPr>
            <a:r>
              <a:rPr lang="en-US" altLang="en-US" sz="2000" i="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• Создан рабочий прототип робота «</a:t>
            </a:r>
            <a:r>
              <a:rPr lang="en-US" altLang="ru-RU" sz="2000" i="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AquaClean» </a:t>
            </a:r>
            <a:r>
              <a:rPr lang="en-US" altLang="en-US" sz="2000" i="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с системой автономного сбора мусора.</a:t>
            </a:r>
            <a:endParaRPr lang="en-US" altLang="en-US" sz="2000" i="0"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indent="0">
              <a:lnSpc>
                <a:spcPct val="100000"/>
              </a:lnSpc>
              <a:spcBef>
                <a:spcPts val="1455"/>
              </a:spcBef>
              <a:buNone/>
              <a:tabLst>
                <a:tab pos="299085" algn="l"/>
              </a:tabLst>
            </a:pPr>
            <a:r>
              <a:rPr lang="en-US" altLang="en-US" sz="2000" i="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• Определены конкретные проблемы, четкая цель и измеримые задачи.</a:t>
            </a:r>
            <a:endParaRPr lang="en-US" altLang="en-US" sz="2000" i="0"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indent="0">
              <a:lnSpc>
                <a:spcPct val="100000"/>
              </a:lnSpc>
              <a:spcBef>
                <a:spcPts val="1455"/>
              </a:spcBef>
              <a:buNone/>
              <a:tabLst>
                <a:tab pos="299085" algn="l"/>
              </a:tabLst>
            </a:pPr>
            <a:r>
              <a:rPr lang="en-US" altLang="en-US" sz="2000" i="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• Разработан план, учитывающий жизненный цикл, риски и оптимизацию ресурсов.</a:t>
            </a:r>
            <a:endParaRPr lang="en-US" altLang="en-US" sz="2000" i="0"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endParaRPr i="0"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479425" y="3244215"/>
            <a:ext cx="11100435" cy="256984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>
              <a:spcBef>
                <a:spcPct val="0"/>
              </a:spcBef>
              <a:spcAft>
                <a:spcPct val="0"/>
              </a:spcAft>
            </a:pPr>
            <a:r>
              <a:rPr sz="2000" b="1" i="1" u="sng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Перспективы</a:t>
            </a:r>
            <a:r>
              <a:rPr sz="2000" b="1" i="1" u="sng" spc="-11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000" b="1" i="1" u="sng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развития</a:t>
            </a:r>
            <a:r>
              <a:rPr sz="2000" b="1" i="1" u="sng" spc="-1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000" b="1" i="1" u="sng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проекта:</a:t>
            </a:r>
            <a:endParaRPr sz="2000" b="1" i="1" u="sng"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 algn="just">
              <a:spcBef>
                <a:spcPct val="0"/>
              </a:spcBef>
              <a:spcAft>
                <a:spcPct val="0"/>
              </a:spcAft>
            </a:pPr>
            <a:endParaRPr lang="en-US" altLang="zh-CN" sz="2000" b="0" i="0">
              <a:solidFill>
                <a:schemeClr val="tx1"/>
              </a:solidFill>
              <a:latin typeface="Times New Roman" panose="02020603050405020304" charset="0"/>
              <a:ea typeface="system-ui"/>
              <a:cs typeface="Times New Roman" panose="02020603050405020304" charset="0"/>
            </a:endParaRPr>
          </a:p>
          <a:p>
            <a:pPr marL="0" indent="0" algn="just"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>
                <a:solidFill>
                  <a:schemeClr val="tx1"/>
                </a:solidFill>
                <a:latin typeface="Times New Roman" panose="02020603050405020304" charset="0"/>
                <a:ea typeface="system-ui"/>
                <a:cs typeface="Times New Roman" panose="02020603050405020304" charset="0"/>
              </a:rPr>
              <a:t>• Подача заявки на конкурс инновационных проектов (например, «УМНИК») для получения безвозмездного грантового финансирования.</a:t>
            </a:r>
            <a:endParaRPr lang="en-US" altLang="zh-CN" sz="2000" b="0" i="0">
              <a:solidFill>
                <a:schemeClr val="tx1"/>
              </a:solidFill>
              <a:latin typeface="Times New Roman" panose="02020603050405020304" charset="0"/>
              <a:ea typeface="system-ui"/>
              <a:cs typeface="Times New Roman" panose="02020603050405020304" charset="0"/>
            </a:endParaRPr>
          </a:p>
          <a:p>
            <a:pPr marL="0" indent="0" algn="just"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>
                <a:solidFill>
                  <a:schemeClr val="tx1"/>
                </a:solidFill>
                <a:latin typeface="Times New Roman" panose="02020603050405020304" charset="0"/>
                <a:ea typeface="system-ui"/>
                <a:cs typeface="Times New Roman" panose="02020603050405020304" charset="0"/>
              </a:rPr>
              <a:t>• Реализация пилотного проекта в партнерстве с администрацией городского парка или частным курортом.</a:t>
            </a:r>
            <a:endParaRPr lang="en-US" altLang="zh-CN" sz="2000" b="0" i="0">
              <a:solidFill>
                <a:schemeClr val="tx1"/>
              </a:solidFill>
              <a:latin typeface="Times New Roman" panose="02020603050405020304" charset="0"/>
              <a:ea typeface="system-ui"/>
              <a:cs typeface="Times New Roman" panose="02020603050405020304" charset="0"/>
            </a:endParaRPr>
          </a:p>
          <a:p>
            <a:pPr marL="0" indent="0" algn="just"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>
                <a:solidFill>
                  <a:schemeClr val="tx1"/>
                </a:solidFill>
                <a:latin typeface="Times New Roman" panose="02020603050405020304" charset="0"/>
                <a:ea typeface="system-ui"/>
                <a:cs typeface="Times New Roman" panose="02020603050405020304" charset="0"/>
              </a:rPr>
              <a:t>• Расширение функционала: интеграция датчиков качества воды (pH, мутность, температура) и установка солнечных панелей для увеличения времени автономной работы.</a:t>
            </a:r>
            <a:endParaRPr lang="en-US" altLang="zh-CN" sz="2000" b="0" i="0">
              <a:solidFill>
                <a:schemeClr val="tx1"/>
              </a:solidFill>
              <a:latin typeface="Times New Roman" panose="02020603050405020304" charset="0"/>
              <a:ea typeface="system-ui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7504</Words>
  <Application>WPS Presentation</Application>
  <PresentationFormat>On-screen Show (4:3)</PresentationFormat>
  <Paragraphs>209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Arial</vt:lpstr>
      <vt:lpstr>Microsoft Sans Serif</vt:lpstr>
      <vt:lpstr>Times New Roman</vt:lpstr>
      <vt:lpstr>system-ui</vt:lpstr>
      <vt:lpstr>Segoe Print</vt:lpstr>
      <vt:lpstr>Microsoft YaHei</vt:lpstr>
      <vt:lpstr>Arial Unicode MS</vt:lpstr>
      <vt:lpstr>Calibri</vt:lpstr>
      <vt:lpstr>Office Theme</vt:lpstr>
      <vt:lpstr>PowerPoint 演示文稿</vt:lpstr>
      <vt:lpstr>Цели и задачи проекта</vt:lpstr>
      <vt:lpstr>Идея и актуальность проекта</vt:lpstr>
      <vt:lpstr>Проблемы, решаемые проектом</vt:lpstr>
      <vt:lpstr>Источники финансирования</vt:lpstr>
      <vt:lpstr>Жизненный цикл проекта (ЖЦП)</vt:lpstr>
      <vt:lpstr>Логическая таблица проекта (для бюджетного финансирования)</vt:lpstr>
      <vt:lpstr>Оценка эффективности</vt:lpstr>
      <vt:lpstr>Команда и инфраструктура</vt:lpstr>
      <vt:lpstr>Заключение и перспективы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</dc:title>
  <dc:creator>Серафима</dc:creator>
  <cp:lastModifiedBy>Svetl</cp:lastModifiedBy>
  <cp:revision>4</cp:revision>
  <dcterms:created xsi:type="dcterms:W3CDTF">2026-09-03T13:06:00Z</dcterms:created>
  <dcterms:modified xsi:type="dcterms:W3CDTF">2026-09-03T20:29:14Z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2026-01-20T06:00:00Z</vt:filetime>
  </property>
  <property fmtid="{D5CDD505-2E9C-101B-9397-08002B2CF9AE}" pid="4" name="Creator">
    <vt:lpwstr>Microsoft® PowerPoint® 2010</vt:lpwstr>
  </property>
  <property fmtid="{D5CDD505-2E9C-101B-9397-08002B2CF9AE}" pid="5" name="LastSaved">
    <vt:filetime>2026-09-03T06:00:00Z</vt:filetime>
  </property>
  <property fmtid="{D5CDD505-2E9C-101B-9397-08002B2CF9AE}" pid="6" name="Producer">
    <vt:lpwstr>Microsoft® PowerPoint® 2010</vt:lpwstr>
  </property>
  <property fmtid="{D5CDD505-2E9C-101B-9397-08002B2CF9AE}" pid="7" name="KSOProductBuildVer">
    <vt:lpwstr>1049-12.1.0.28032</vt:lpwstr>
  </property>
  <property fmtid="{D5CDD505-2E9C-101B-9397-08002B2CF9AE}" pid="8" name="ICV">
    <vt:lpwstr>30B033EB3A6D4324A85A0CC1AA8C26E1_12</vt:lpwstr>
  </property>
</Properties>
</file>